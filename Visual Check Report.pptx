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EmE1g6FRWTdcEuOrtRRArPdbw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b4b038ffe_0_2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8b4b038ffe_9_0)">
  <p:cSld name="Generated (g38b4b038ffe_9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F3460">
              <a:alpha val="40000"/>
            </a:srgbClr>
          </a:solidFill>
          <a:ln cap="flat" cmpd="sng" w="12700">
            <a:solidFill>
              <a:srgbClr val="0F346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223760" y="-457200"/>
            <a:ext cx="2743200" cy="2743200"/>
          </a:xfrm>
          <a:prstGeom prst="ellipse">
            <a:avLst/>
          </a:prstGeom>
          <a:solidFill>
            <a:srgbClr val="E94560">
              <a:alpha val="25098"/>
            </a:srgbClr>
          </a:solidFill>
          <a:ln cap="flat" cmpd="sng" w="12700">
            <a:solidFill>
              <a:srgbClr val="E9456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02920" y="822960"/>
            <a:ext cx="1737360" cy="32004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02920" y="8229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REPORT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132588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 Check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2920" y="23774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A8FA8"/>
                </a:solidFill>
                <a:latin typeface="Calibri"/>
                <a:ea typeface="Calibri"/>
                <a:cs typeface="Calibri"/>
                <a:sym typeface="Calibri"/>
              </a:rPr>
              <a:t>Self-hosted visual regression testing tool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502920" y="2971800"/>
            <a:ext cx="3200400" cy="0"/>
          </a:xfrm>
          <a:prstGeom prst="straightConnector1">
            <a:avLst/>
          </a:prstGeom>
          <a:noFill/>
          <a:ln cap="flat" cmpd="sng" w="254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/>
          <p:nvPr/>
        </p:nvSpPr>
        <p:spPr>
          <a:xfrm>
            <a:off x="502920" y="31546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Thái  ·  Bình  ·  Thanh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02920" y="34930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8FA8"/>
                </a:solidFill>
                <a:latin typeface="Calibri"/>
                <a:ea typeface="Calibri"/>
                <a:cs typeface="Calibri"/>
                <a:sym typeface="Calibri"/>
              </a:rPr>
              <a:t>April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02920" y="4663440"/>
            <a:ext cx="822960" cy="54864"/>
          </a:xfrm>
          <a:prstGeom prst="rect">
            <a:avLst/>
          </a:prstGeom>
          <a:solidFill>
            <a:srgbClr val="0F3460">
              <a:alpha val="50196"/>
            </a:srgbClr>
          </a:solidFill>
          <a:ln cap="flat" cmpd="sng" w="12700">
            <a:solidFill>
              <a:srgbClr val="0F3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1600200" y="4663440"/>
            <a:ext cx="822960" cy="54864"/>
          </a:xfrm>
          <a:prstGeom prst="rect">
            <a:avLst/>
          </a:prstGeom>
          <a:solidFill>
            <a:srgbClr val="0F3460">
              <a:alpha val="50196"/>
            </a:srgbClr>
          </a:solidFill>
          <a:ln cap="flat" cmpd="sng" w="12700">
            <a:solidFill>
              <a:srgbClr val="0F3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2697480" y="4663440"/>
            <a:ext cx="822960" cy="54864"/>
          </a:xfrm>
          <a:prstGeom prst="rect">
            <a:avLst/>
          </a:prstGeom>
          <a:solidFill>
            <a:srgbClr val="0F3460">
              <a:alpha val="50196"/>
            </a:srgbClr>
          </a:solidFill>
          <a:ln cap="flat" cmpd="sng" w="12700">
            <a:solidFill>
              <a:srgbClr val="0F3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3794760" y="4663440"/>
            <a:ext cx="822960" cy="54864"/>
          </a:xfrm>
          <a:prstGeom prst="rect">
            <a:avLst/>
          </a:prstGeom>
          <a:solidFill>
            <a:srgbClr val="0F3460">
              <a:alpha val="50196"/>
            </a:srgbClr>
          </a:solidFill>
          <a:ln cap="flat" cmpd="sng" w="12700">
            <a:solidFill>
              <a:srgbClr val="0F3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4892040" y="4663440"/>
            <a:ext cx="822960" cy="54864"/>
          </a:xfrm>
          <a:prstGeom prst="rect">
            <a:avLst/>
          </a:prstGeom>
          <a:solidFill>
            <a:srgbClr val="0F3460">
              <a:alpha val="50196"/>
            </a:srgbClr>
          </a:solidFill>
          <a:ln cap="flat" cmpd="sng" w="12700">
            <a:solidFill>
              <a:srgbClr val="0F3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5989320" y="4663440"/>
            <a:ext cx="822960" cy="54864"/>
          </a:xfrm>
          <a:prstGeom prst="rect">
            <a:avLst/>
          </a:prstGeom>
          <a:solidFill>
            <a:srgbClr val="0F3460">
              <a:alpha val="50196"/>
            </a:srgbClr>
          </a:solidFill>
          <a:ln cap="flat" cmpd="sng" w="12700">
            <a:solidFill>
              <a:srgbClr val="0F3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086600" y="4663440"/>
            <a:ext cx="822960" cy="54864"/>
          </a:xfrm>
          <a:prstGeom prst="rect">
            <a:avLst/>
          </a:prstGeom>
          <a:solidFill>
            <a:srgbClr val="0F3460">
              <a:alpha val="50196"/>
            </a:srgbClr>
          </a:solidFill>
          <a:ln cap="flat" cmpd="sng" w="12700">
            <a:solidFill>
              <a:srgbClr val="0F3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8183880" y="4663440"/>
            <a:ext cx="822960" cy="54864"/>
          </a:xfrm>
          <a:prstGeom prst="rect">
            <a:avLst/>
          </a:prstGeom>
          <a:solidFill>
            <a:srgbClr val="0F3460">
              <a:alpha val="50196"/>
            </a:srgbClr>
          </a:solidFill>
          <a:ln cap="flat" cmpd="sng" w="12700">
            <a:solidFill>
              <a:srgbClr val="0F3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8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is Visual Check?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94360" y="1097280"/>
            <a:ext cx="7955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 Check is a self-hosted visual regression testing tool inspired by Percy (BrowserStack). It automatically captures screenshots of your live application, fetches design baselines from Figma, diffs them pixel-by-pixel, and presents results in a review dashboard</a:t>
            </a: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2468880"/>
            <a:ext cx="2606040" cy="1508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57200" y="2468880"/>
            <a:ext cx="2606040" cy="54864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48640" y="2788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Design 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8640" y="309067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080"/>
                </a:solidFill>
                <a:latin typeface="Calibri"/>
                <a:ea typeface="Calibri"/>
                <a:cs typeface="Calibri"/>
                <a:sym typeface="Calibri"/>
              </a:rPr>
              <a:t>Figma frames as the ground truth baseline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291840" y="2468880"/>
            <a:ext cx="2606040" cy="1508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291840" y="2468880"/>
            <a:ext cx="2606040" cy="54864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3383280" y="2788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Capture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383280" y="309067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080"/>
                </a:solidFill>
                <a:latin typeface="Calibri"/>
                <a:ea typeface="Calibri"/>
                <a:cs typeface="Calibri"/>
                <a:sym typeface="Calibri"/>
              </a:rPr>
              <a:t>Playwright screenshots of the live application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126480" y="2468880"/>
            <a:ext cx="2606040" cy="1508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126480" y="2468880"/>
            <a:ext cx="2606040" cy="54864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217920" y="2788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217920" y="309067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080"/>
                </a:solidFill>
                <a:latin typeface="Calibri"/>
                <a:ea typeface="Calibri"/>
                <a:cs typeface="Calibri"/>
                <a:sym typeface="Calibri"/>
              </a:rPr>
              <a:t>Dashboard to approve or reject visual changes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A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A8FA8"/>
                </a:solidFill>
                <a:latin typeface="Calibri"/>
                <a:ea typeface="Calibri"/>
                <a:cs typeface="Calibri"/>
                <a:sym typeface="Calibri"/>
              </a:rPr>
              <a:t>Inspired by Percy by BrowserStack — built in-house, runs entirely locally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A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8FA8"/>
                </a:solidFill>
                <a:latin typeface="Calibri"/>
                <a:ea typeface="Calibri"/>
                <a:cs typeface="Calibri"/>
                <a:sym typeface="Calibri"/>
              </a:rPr>
              <a:t>Monorepo — 3 packages + shared 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20040" y="1234440"/>
            <a:ext cx="2697480" cy="3520440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320040" y="1234440"/>
            <a:ext cx="2697480" cy="73152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11480" y="1353312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@visual-check/core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11480" y="1664208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Shared library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3"/>
          <p:cNvCxnSpPr/>
          <p:nvPr/>
        </p:nvCxnSpPr>
        <p:spPr>
          <a:xfrm>
            <a:off x="411480" y="1993392"/>
            <a:ext cx="2377440" cy="0"/>
          </a:xfrm>
          <a:prstGeom prst="straightConnector1">
            <a:avLst/>
          </a:prstGeom>
          <a:noFill/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3"/>
          <p:cNvSpPr/>
          <p:nvPr/>
        </p:nvSpPr>
        <p:spPr>
          <a:xfrm>
            <a:off x="411480" y="210312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Figma API client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11480" y="2578608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pixelmatch diff engine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11480" y="3054096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file storage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11480" y="3529584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integration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11480" y="400507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&amp; result manifests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200400" y="1234440"/>
            <a:ext cx="2697480" cy="3520440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0F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3200400" y="1234440"/>
            <a:ext cx="2697480" cy="73152"/>
          </a:xfrm>
          <a:prstGeom prst="rect">
            <a:avLst/>
          </a:prstGeom>
          <a:solidFill>
            <a:srgbClr val="0F9488"/>
          </a:solidFill>
          <a:ln cap="flat" cmpd="sng" w="12700">
            <a:solidFill>
              <a:srgbClr val="0F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291840" y="1353312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@visual-check/playwright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291840" y="1664208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4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9488"/>
                </a:solidFill>
                <a:latin typeface="Calibri"/>
                <a:ea typeface="Calibri"/>
                <a:cs typeface="Calibri"/>
                <a:sym typeface="Calibri"/>
              </a:rPr>
              <a:t>Test runner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3"/>
          <p:cNvCxnSpPr/>
          <p:nvPr/>
        </p:nvCxnSpPr>
        <p:spPr>
          <a:xfrm>
            <a:off x="3291840" y="1993392"/>
            <a:ext cx="2377440" cy="0"/>
          </a:xfrm>
          <a:prstGeom prst="straightConnector1">
            <a:avLst/>
          </a:prstGeom>
          <a:noFill/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3"/>
          <p:cNvSpPr/>
          <p:nvPr/>
        </p:nvSpPr>
        <p:spPr>
          <a:xfrm>
            <a:off x="3291840" y="210312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Playwright config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291840" y="2578608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Screenshot capture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291840" y="3054096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 label lookup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291840" y="3529584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Figma node lookup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291840" y="400507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label generation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080760" y="1234440"/>
            <a:ext cx="2697480" cy="3520440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080760" y="1234440"/>
            <a:ext cx="2697480" cy="7315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172200" y="1353312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@visual-check/dashboard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172200" y="1664208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Frontend </a:t>
            </a:r>
            <a:r>
              <a:rPr b="0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6172200" y="1993392"/>
            <a:ext cx="2377440" cy="0"/>
          </a:xfrm>
          <a:prstGeom prst="straightConnector1">
            <a:avLst/>
          </a:prstGeom>
          <a:noFill/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172200" y="210312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management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172200" y="2578608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history 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172200" y="3054096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 viewer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172200" y="3529584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Approve / reject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172200" y="400507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 API routes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3"/>
          <p:cNvCxnSpPr/>
          <p:nvPr/>
        </p:nvCxnSpPr>
        <p:spPr>
          <a:xfrm>
            <a:off x="3035808" y="2999232"/>
            <a:ext cx="320100" cy="0"/>
          </a:xfrm>
          <a:prstGeom prst="straightConnector1">
            <a:avLst/>
          </a:prstGeom>
          <a:noFill/>
          <a:ln cap="flat" cmpd="sng" w="19050">
            <a:solidFill>
              <a:srgbClr val="8A8FA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3"/>
          <p:cNvCxnSpPr/>
          <p:nvPr/>
        </p:nvCxnSpPr>
        <p:spPr>
          <a:xfrm>
            <a:off x="5916168" y="2999232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8A8F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3017525" y="2788925"/>
            <a:ext cx="385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8FA8"/>
                </a:solidFill>
                <a:latin typeface="Calibri"/>
                <a:ea typeface="Calibri"/>
                <a:cs typeface="Calibri"/>
                <a:sym typeface="Calibri"/>
              </a:rPr>
              <a:t>imports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897874" y="2788925"/>
            <a:ext cx="385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8FA8"/>
                </a:solidFill>
                <a:latin typeface="Calibri"/>
                <a:ea typeface="Calibri"/>
                <a:cs typeface="Calibri"/>
                <a:sym typeface="Calibri"/>
              </a:rPr>
              <a:t>imports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FA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A8FA8"/>
                </a:solidFill>
                <a:latin typeface="Calibri"/>
                <a:ea typeface="Calibri"/>
                <a:cs typeface="Calibri"/>
                <a:sym typeface="Calibri"/>
              </a:rPr>
              <a:t>pnpm workspaces monorepo  ·  TypeScript  ·  Node 20+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b4b038ffe_0_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8b4b038ffe_0_25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8b4b038ffe_0_25"/>
          <p:cNvSpPr txBox="1"/>
          <p:nvPr/>
        </p:nvSpPr>
        <p:spPr>
          <a:xfrm>
            <a:off x="571500" y="333375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Interface Overview</a:t>
            </a:r>
            <a:endParaRPr b="1" sz="296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8b4b038ffe_0_25"/>
          <p:cNvSpPr txBox="1"/>
          <p:nvPr/>
        </p:nvSpPr>
        <p:spPr>
          <a:xfrm>
            <a:off x="0" y="4667250"/>
            <a:ext cx="914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8A8FA8"/>
                </a:solidFill>
                <a:latin typeface="Calibri"/>
                <a:ea typeface="Calibri"/>
                <a:cs typeface="Calibri"/>
                <a:sym typeface="Calibri"/>
              </a:rPr>
              <a:t>Next.js 16 Dashboard Core Components · React UI</a:t>
            </a:r>
            <a:endParaRPr i="1" sz="900">
              <a:solidFill>
                <a:srgbClr val="8A8F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8b4b038ffe_0_25"/>
          <p:cNvSpPr/>
          <p:nvPr/>
        </p:nvSpPr>
        <p:spPr>
          <a:xfrm>
            <a:off x="571500" y="1047750"/>
            <a:ext cx="3905400" cy="1505100"/>
          </a:xfrm>
          <a:prstGeom prst="roundRect">
            <a:avLst>
              <a:gd fmla="val 5063" name="adj"/>
            </a:avLst>
          </a:prstGeom>
          <a:solidFill>
            <a:srgbClr val="1621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g38b4b038ffe_0_25"/>
          <p:cNvPicPr preferRelativeResize="0"/>
          <p:nvPr/>
        </p:nvPicPr>
        <p:blipFill rotWithShape="1">
          <a:blip r:embed="rId3">
            <a:alphaModFix/>
          </a:blip>
          <a:srcRect b="22500" l="3600" r="3610" t="22500"/>
          <a:stretch/>
        </p:blipFill>
        <p:spPr>
          <a:xfrm>
            <a:off x="571500" y="1047750"/>
            <a:ext cx="3905400" cy="15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8b4b038ffe_0_25"/>
          <p:cNvSpPr/>
          <p:nvPr/>
        </p:nvSpPr>
        <p:spPr>
          <a:xfrm>
            <a:off x="4667250" y="1047750"/>
            <a:ext cx="3905400" cy="1505100"/>
          </a:xfrm>
          <a:prstGeom prst="roundRect">
            <a:avLst>
              <a:gd fmla="val 5063" name="adj"/>
            </a:avLst>
          </a:prstGeom>
          <a:solidFill>
            <a:srgbClr val="1621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g38b4b038ffe_0_25"/>
          <p:cNvPicPr preferRelativeResize="0"/>
          <p:nvPr/>
        </p:nvPicPr>
        <p:blipFill rotWithShape="1">
          <a:blip r:embed="rId4">
            <a:alphaModFix/>
          </a:blip>
          <a:srcRect b="29183" l="3713" r="3703" t="15941"/>
          <a:stretch/>
        </p:blipFill>
        <p:spPr>
          <a:xfrm>
            <a:off x="4667250" y="1047750"/>
            <a:ext cx="3905400" cy="15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8b4b038ffe_0_25"/>
          <p:cNvSpPr/>
          <p:nvPr/>
        </p:nvSpPr>
        <p:spPr>
          <a:xfrm>
            <a:off x="571500" y="2743200"/>
            <a:ext cx="3905400" cy="1505100"/>
          </a:xfrm>
          <a:prstGeom prst="roundRect">
            <a:avLst>
              <a:gd fmla="val 5063" name="adj"/>
            </a:avLst>
          </a:prstGeom>
          <a:solidFill>
            <a:srgbClr val="1621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g38b4b038ffe_0_25"/>
          <p:cNvPicPr preferRelativeResize="0"/>
          <p:nvPr/>
        </p:nvPicPr>
        <p:blipFill rotWithShape="1">
          <a:blip r:embed="rId5">
            <a:alphaModFix/>
          </a:blip>
          <a:srcRect b="13711" l="3575" r="3566" t="31247"/>
          <a:stretch/>
        </p:blipFill>
        <p:spPr>
          <a:xfrm>
            <a:off x="571500" y="2743200"/>
            <a:ext cx="3905400" cy="15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8b4b038ffe_0_25"/>
          <p:cNvSpPr/>
          <p:nvPr/>
        </p:nvSpPr>
        <p:spPr>
          <a:xfrm>
            <a:off x="4667250" y="2743200"/>
            <a:ext cx="3905400" cy="1505100"/>
          </a:xfrm>
          <a:prstGeom prst="roundRect">
            <a:avLst>
              <a:gd fmla="val 5063" name="adj"/>
            </a:avLst>
          </a:prstGeom>
          <a:solidFill>
            <a:srgbClr val="1621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g38b4b038ffe_0_25"/>
          <p:cNvPicPr preferRelativeResize="0"/>
          <p:nvPr/>
        </p:nvPicPr>
        <p:blipFill rotWithShape="1">
          <a:blip r:embed="rId6">
            <a:alphaModFix/>
          </a:blip>
          <a:srcRect b="28254" l="3445" r="3436" t="16553"/>
          <a:stretch/>
        </p:blipFill>
        <p:spPr>
          <a:xfrm>
            <a:off x="4667250" y="2743200"/>
            <a:ext cx="3905400" cy="1505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" name="Google Shape;115;g38b4b038ffe_0_25"/>
          <p:cNvGrpSpPr/>
          <p:nvPr/>
        </p:nvGrpSpPr>
        <p:grpSpPr>
          <a:xfrm>
            <a:off x="571500" y="2571750"/>
            <a:ext cx="8001150" cy="1885950"/>
            <a:chOff x="571500" y="2571750"/>
            <a:chExt cx="8001150" cy="1885950"/>
          </a:xfrm>
        </p:grpSpPr>
        <p:sp>
          <p:nvSpPr>
            <p:cNvPr id="116" name="Google Shape;116;g38b4b038ffe_0_25"/>
            <p:cNvSpPr txBox="1"/>
            <p:nvPr/>
          </p:nvSpPr>
          <p:spPr>
            <a:xfrm>
              <a:off x="571500" y="2571750"/>
              <a:ext cx="3905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8A8FA8"/>
                  </a:solidFill>
                  <a:latin typeface="Calibri"/>
                  <a:ea typeface="Calibri"/>
                  <a:cs typeface="Calibri"/>
                  <a:sym typeface="Calibri"/>
                </a:rPr>
                <a:t>Projects Dashboard</a:t>
              </a:r>
              <a:endParaRPr sz="1000">
                <a:solidFill>
                  <a:srgbClr val="8A8FA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g38b4b038ffe_0_25"/>
            <p:cNvSpPr txBox="1"/>
            <p:nvPr/>
          </p:nvSpPr>
          <p:spPr>
            <a:xfrm>
              <a:off x="4667250" y="2571750"/>
              <a:ext cx="3905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8A8FA8"/>
                  </a:solidFill>
                  <a:latin typeface="Calibri"/>
                  <a:ea typeface="Calibri"/>
                  <a:cs typeface="Calibri"/>
                  <a:sym typeface="Calibri"/>
                </a:rPr>
                <a:t>Build Execution View</a:t>
              </a:r>
              <a:endParaRPr sz="1000">
                <a:solidFill>
                  <a:srgbClr val="8A8FA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g38b4b038ffe_0_25"/>
            <p:cNvSpPr txBox="1"/>
            <p:nvPr/>
          </p:nvSpPr>
          <p:spPr>
            <a:xfrm>
              <a:off x="571500" y="4267200"/>
              <a:ext cx="3905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8A8FA8"/>
                  </a:solidFill>
                  <a:latin typeface="Calibri"/>
                  <a:ea typeface="Calibri"/>
                  <a:cs typeface="Calibri"/>
                  <a:sym typeface="Calibri"/>
                </a:rPr>
                <a:t>Patient Data Comparison</a:t>
              </a:r>
              <a:endParaRPr sz="1000">
                <a:solidFill>
                  <a:srgbClr val="8A8FA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g38b4b038ffe_0_25"/>
            <p:cNvSpPr txBox="1"/>
            <p:nvPr/>
          </p:nvSpPr>
          <p:spPr>
            <a:xfrm>
              <a:off x="4667250" y="4267200"/>
              <a:ext cx="3905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8A8FA8"/>
                  </a:solidFill>
                  <a:latin typeface="Calibri"/>
                  <a:ea typeface="Calibri"/>
                  <a:cs typeface="Calibri"/>
                  <a:sym typeface="Calibri"/>
                </a:rPr>
                <a:t>Review &amp; Approval Workspace</a:t>
              </a:r>
              <a:endParaRPr sz="1000">
                <a:solidFill>
                  <a:srgbClr val="8A8FA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 Workflow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A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8FA8"/>
                </a:solidFill>
                <a:latin typeface="Calibri"/>
                <a:ea typeface="Calibri"/>
                <a:cs typeface="Calibri"/>
                <a:sym typeface="Calibri"/>
              </a:rPr>
              <a:t>From Figma design to reviewed result in one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9"/>
          <p:cNvCxnSpPr/>
          <p:nvPr/>
        </p:nvCxnSpPr>
        <p:spPr>
          <a:xfrm>
            <a:off x="1307592" y="1920240"/>
            <a:ext cx="448056" cy="0"/>
          </a:xfrm>
          <a:prstGeom prst="straightConnector1">
            <a:avLst/>
          </a:prstGeom>
          <a:noFill/>
          <a:ln cap="flat" cmpd="sng" w="19050">
            <a:solidFill>
              <a:srgbClr val="8A8F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9"/>
          <p:cNvSpPr/>
          <p:nvPr/>
        </p:nvSpPr>
        <p:spPr>
          <a:xfrm>
            <a:off x="320040" y="1280160"/>
            <a:ext cx="1234440" cy="2011680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320040" y="1280160"/>
            <a:ext cx="1234440" cy="6400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320040" y="1389888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320040" y="1938528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374904" y="2267712"/>
            <a:ext cx="11247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dashboard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9"/>
          <p:cNvCxnSpPr/>
          <p:nvPr/>
        </p:nvCxnSpPr>
        <p:spPr>
          <a:xfrm>
            <a:off x="2743200" y="1920240"/>
            <a:ext cx="448056" cy="0"/>
          </a:xfrm>
          <a:prstGeom prst="straightConnector1">
            <a:avLst/>
          </a:prstGeom>
          <a:noFill/>
          <a:ln cap="flat" cmpd="sng" w="19050">
            <a:solidFill>
              <a:srgbClr val="8A8F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9"/>
          <p:cNvSpPr/>
          <p:nvPr/>
        </p:nvSpPr>
        <p:spPr>
          <a:xfrm>
            <a:off x="1755648" y="1280160"/>
            <a:ext cx="1234440" cy="2011680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1755648" y="1280160"/>
            <a:ext cx="1234440" cy="6400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1755648" y="1389888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1755648" y="1938528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1810512" y="2267712"/>
            <a:ext cx="11247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Pull Figma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9"/>
          <p:cNvCxnSpPr/>
          <p:nvPr/>
        </p:nvCxnSpPr>
        <p:spPr>
          <a:xfrm>
            <a:off x="4178808" y="1920240"/>
            <a:ext cx="448056" cy="0"/>
          </a:xfrm>
          <a:prstGeom prst="straightConnector1">
            <a:avLst/>
          </a:prstGeom>
          <a:noFill/>
          <a:ln cap="flat" cmpd="sng" w="19050">
            <a:solidFill>
              <a:srgbClr val="8A8F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9"/>
          <p:cNvSpPr/>
          <p:nvPr/>
        </p:nvSpPr>
        <p:spPr>
          <a:xfrm>
            <a:off x="3191256" y="1280160"/>
            <a:ext cx="1234440" cy="2011680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0F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3191256" y="1280160"/>
            <a:ext cx="1234440" cy="64008"/>
          </a:xfrm>
          <a:prstGeom prst="rect">
            <a:avLst/>
          </a:prstGeom>
          <a:solidFill>
            <a:srgbClr val="0F9488"/>
          </a:solidFill>
          <a:ln cap="flat" cmpd="sng" w="12700">
            <a:solidFill>
              <a:srgbClr val="0F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3191256" y="1389888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🎭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3191256" y="1938528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948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3246120" y="2267712"/>
            <a:ext cx="11247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Playwright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9"/>
          <p:cNvCxnSpPr/>
          <p:nvPr/>
        </p:nvCxnSpPr>
        <p:spPr>
          <a:xfrm>
            <a:off x="5614416" y="1920240"/>
            <a:ext cx="448056" cy="0"/>
          </a:xfrm>
          <a:prstGeom prst="straightConnector1">
            <a:avLst/>
          </a:prstGeom>
          <a:noFill/>
          <a:ln cap="flat" cmpd="sng" w="19050">
            <a:solidFill>
              <a:srgbClr val="8A8F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9"/>
          <p:cNvSpPr/>
          <p:nvPr/>
        </p:nvSpPr>
        <p:spPr>
          <a:xfrm>
            <a:off x="4626864" y="1280160"/>
            <a:ext cx="1234440" cy="2011680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4626864" y="1280160"/>
            <a:ext cx="1234440" cy="6400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4626864" y="1389888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4626864" y="1938528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681728" y="2267712"/>
            <a:ext cx="11247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 build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9"/>
          <p:cNvCxnSpPr/>
          <p:nvPr/>
        </p:nvCxnSpPr>
        <p:spPr>
          <a:xfrm>
            <a:off x="7050024" y="1920240"/>
            <a:ext cx="448056" cy="0"/>
          </a:xfrm>
          <a:prstGeom prst="straightConnector1">
            <a:avLst/>
          </a:prstGeom>
          <a:noFill/>
          <a:ln cap="flat" cmpd="sng" w="19050">
            <a:solidFill>
              <a:srgbClr val="8A8F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9"/>
          <p:cNvSpPr/>
          <p:nvPr/>
        </p:nvSpPr>
        <p:spPr>
          <a:xfrm>
            <a:off x="6062472" y="1280160"/>
            <a:ext cx="1234440" cy="2011680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6062472" y="1280160"/>
            <a:ext cx="1234440" cy="6400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6062472" y="1389888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062472" y="1938528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117336" y="2267712"/>
            <a:ext cx="11247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Inspect diff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AI analysis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7498080" y="1280160"/>
            <a:ext cx="1234440" cy="2011680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0F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7498080" y="1280160"/>
            <a:ext cx="1234440" cy="64008"/>
          </a:xfrm>
          <a:prstGeom prst="rect">
            <a:avLst/>
          </a:prstGeom>
          <a:solidFill>
            <a:srgbClr val="0F9488"/>
          </a:solidFill>
          <a:ln cap="flat" cmpd="sng" w="12700">
            <a:solidFill>
              <a:srgbClr val="0F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7498080" y="1389888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7498080" y="1938528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948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7552944" y="2267712"/>
            <a:ext cx="11247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Approve 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reject changes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320050" y="3520450"/>
            <a:ext cx="8412600" cy="1326000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500150" y="3611875"/>
            <a:ext cx="800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🔐  Authentication support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00150" y="3904374"/>
            <a:ext cx="80037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8A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Protected apps are fully supported. The dashboard provides a guided browser session flow — log in once (including QR / 2FA), press Confirm, and the session is saved to auth.json. All subsequent Playwright runs load it automatically. JWT tokens can also be injected via the run modal for token-based auth.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F3460">
              <a:alpha val="34901"/>
            </a:srgbClr>
          </a:solidFill>
          <a:ln cap="flat" cmpd="sng" w="12700">
            <a:solidFill>
              <a:srgbClr val="0F346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E94560">
              <a:alpha val="25098"/>
            </a:srgbClr>
          </a:solidFill>
          <a:ln cap="flat" cmpd="sng" w="12700">
            <a:solidFill>
              <a:srgbClr val="E9456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"/>
          <p:cNvSpPr/>
          <p:nvPr/>
        </p:nvSpPr>
        <p:spPr>
          <a:xfrm>
            <a:off x="761625" y="2068825"/>
            <a:ext cx="7315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320040" y="3886200"/>
            <a:ext cx="1325880" cy="347472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2026-04-09T02:24:37Z</dcterms:created>
  <dc:creator>PptxGenJS</dc:creator>
</cp:coreProperties>
</file>